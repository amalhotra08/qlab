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43891200" cy="3291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548640"/>
            <a:ext cx="418795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333A"/>
                </a:solidFill>
              </a:defRPr>
            </a:pPr>
            <a:r>
              <a:t>A Hybrid Quantum-Classical Attention Mechanism for Efficient LLMs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29260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4E585E"/>
                </a:solidFill>
              </a:defRPr>
            </a:pPr>
            <a:r>
              <a:t>Ansh Malhotra and Smaran Kudapa | QLab Senior Research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926080"/>
            <a:ext cx="13258800" cy="5486400"/>
          </a:xfrm>
          <a:prstGeom prst="rect">
            <a:avLst/>
          </a:prstGeom>
          <a:solidFill>
            <a:srgbClr val="E8F0F2"/>
          </a:solidFill>
          <a:ln>
            <a:solidFill>
              <a:srgbClr val="C8D2D6"/>
            </a:solidFill>
          </a:ln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23333A"/>
                </a:solidFill>
              </a:defRPr>
            </a:pPr>
            <a:r>
              <a:t>Research Question</a:t>
            </a:r>
            <a:br/>
            <a:br/>
            <a:r>
              <a:t>Can a simulated quantum kernel replace only the query-key dot product while preserving useful attention behavior?</a:t>
            </a:r>
            <a:br/>
            <a:br/>
            <a:r>
              <a:t>Models</a:t>
            </a:r>
            <a:br/>
            <a:br/>
            <a:r>
              <a:t>Classical attention</a:t>
            </a:r>
            <a:br/>
            <a:r>
              <a:t>Matched low-dimensional ablation</a:t>
            </a:r>
            <a:br/>
            <a:r>
              <a:t>Hybrid four-qubit PQC kernel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996159" y="2926080"/>
            <a:ext cx="13533120" cy="5486400"/>
          </a:xfrm>
          <a:prstGeom prst="rect">
            <a:avLst/>
          </a:prstGeom>
          <a:solidFill>
            <a:srgbClr val="F2EBE0"/>
          </a:solidFill>
          <a:ln>
            <a:solidFill>
              <a:srgbClr val="C8D2D6"/>
            </a:solidFill>
          </a:ln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23333A"/>
                </a:solidFill>
              </a:defRPr>
            </a:pPr>
            <a:r>
              <a:t>Main Result</a:t>
            </a:r>
            <a:br/>
            <a:br/>
            <a:r>
              <a:t>Classical accuracy: 76.9%</a:t>
            </a:r>
            <a:br/>
            <a:r>
              <a:t>Hybrid accuracy: 70.6%</a:t>
            </a:r>
            <a:br/>
            <a:r>
              <a:t>Ablation accuracy: 77.8%</a:t>
            </a:r>
            <a:br/>
            <a:br/>
            <a:r>
              <a:t>At sequence length 32, the hybrid simulation took 2.99x the classical runtime.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169360" y="2926080"/>
            <a:ext cx="13716000" cy="5486400"/>
          </a:xfrm>
          <a:prstGeom prst="rect">
            <a:avLst/>
          </a:prstGeom>
          <a:solidFill>
            <a:srgbClr val="ECF0E8"/>
          </a:solidFill>
          <a:ln>
            <a:solidFill>
              <a:srgbClr val="C8D2D6"/>
            </a:solidFill>
          </a:ln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23333A"/>
                </a:solidFill>
              </a:defRPr>
            </a:pPr>
            <a:r>
              <a:t>Conclusion</a:t>
            </a:r>
            <a:br/>
            <a:br/>
            <a:r>
              <a:t>The hybrid block runs end-to-end, but classical state-vector simulation does not deliver speedup. The value is diagnostic: attention alignment, gradient variance, and noise response can now be measured cleanly.</a:t>
            </a:r>
          </a:p>
        </p:txBody>
      </p:sp>
      <p:pic>
        <p:nvPicPr>
          <p:cNvPr id="7" name="Picture 6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9326880"/>
            <a:ext cx="20299680" cy="10241280"/>
          </a:xfrm>
          <a:prstGeom prst="rect">
            <a:avLst/>
          </a:prstGeom>
        </p:spPr>
      </p:pic>
      <p:pic>
        <p:nvPicPr>
          <p:cNvPr id="8" name="Picture 7" descr="accuracy_f1_sum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28480" y="9326880"/>
            <a:ext cx="9966960" cy="7406640"/>
          </a:xfrm>
          <a:prstGeom prst="rect">
            <a:avLst/>
          </a:prstGeom>
        </p:spPr>
      </p:pic>
      <p:pic>
        <p:nvPicPr>
          <p:cNvPr id="9" name="Picture 8" descr="benchmark_runti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0" y="9326880"/>
            <a:ext cx="9966960" cy="7406640"/>
          </a:xfrm>
          <a:prstGeom prst="rect">
            <a:avLst/>
          </a:prstGeom>
        </p:spPr>
      </p:pic>
      <p:pic>
        <p:nvPicPr>
          <p:cNvPr id="10" name="Picture 9" descr="noise_robustnes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20391120"/>
            <a:ext cx="13258800" cy="8595360"/>
          </a:xfrm>
          <a:prstGeom prst="rect">
            <a:avLst/>
          </a:prstGeom>
        </p:spPr>
      </p:pic>
      <p:pic>
        <p:nvPicPr>
          <p:cNvPr id="11" name="Picture 10" descr="gradient_varianc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53359" y="20391120"/>
            <a:ext cx="13258800" cy="8595360"/>
          </a:xfrm>
          <a:prstGeom prst="rect">
            <a:avLst/>
          </a:prstGeom>
        </p:spPr>
      </p:pic>
      <p:pic>
        <p:nvPicPr>
          <p:cNvPr id="12" name="Picture 11" descr="attention_alignmen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718000" y="20391120"/>
            <a:ext cx="13258800" cy="85953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05840" y="30358080"/>
            <a:ext cx="41879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4E585E"/>
                </a:solidFill>
              </a:defRPr>
            </a:pPr>
            <a:r>
              <a:t>Real metrics are generated by scripts/run_all.py and saved as CSV files in results/metrics/. Negative or mixed findings are reported directly.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